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41280"/>
  <p:notesSz cx="1024128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77A1F"/>
              </a:solidFill>
              <a:effectLst/>
            </c:spPr>
          </c:dPt>
          <c:dPt>
            <c:idx val="1"/>
            <c:bubble3D val="0"/>
            <c:spPr>
              <a:solidFill>
                <a:srgbClr val="08172A"/>
              </a:solidFill>
              <a:effectLst/>
            </c:spPr>
          </c:dPt>
          <c:dPt>
            <c:idx val="2"/>
            <c:bubble3D val="0"/>
            <c:spPr>
              <a:solidFill>
                <a:srgbClr val="8B9B3A"/>
              </a:solidFill>
              <a:effectLst/>
            </c:spPr>
          </c:dPt>
          <c:dPt>
            <c:idx val="3"/>
            <c:bubble3D val="0"/>
            <c:spPr>
              <a:solidFill>
                <a:srgbClr val="B4C4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Adventure Millennials</c:v>
                </c:pt>
                <c:pt idx="1">
                  <c:v>Experience Seekers</c:v>
                </c:pt>
                <c:pt idx="2">
                  <c:v>Repeat GoTravelers</c:v>
                </c:pt>
                <c:pt idx="3">
                  <c:v>Group &amp; Couples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($)</c:v>
                </c:pt>
              </c:strCache>
            </c:strRef>
          </c:tx>
          <c:spPr>
            <a:solidFill>
              <a:srgbClr val="677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Meta Ads</c:v>
                  </c:pt>
                  <c:pt idx="1">
                    <c:v>Google Ads</c:v>
                  </c:pt>
                  <c:pt idx="2">
                    <c:v>Content</c:v>
                  </c:pt>
                  <c:pt idx="3">
                    <c:v>Influencers</c:v>
                  </c:pt>
                  <c:pt idx="4">
                    <c:v>Email</c:v>
                  </c:pt>
                  <c:pt idx="5">
                    <c:v>TikTok</c:v>
                  </c:pt>
                  <c:pt idx="6">
                    <c:v>SEO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14000</c:v>
                </c:pt>
                <c:pt idx="1">
                  <c:v>8400</c:v>
                </c:pt>
                <c:pt idx="2">
                  <c:v>7500</c:v>
                </c:pt>
                <c:pt idx="3">
                  <c:v>5000</c:v>
                </c:pt>
                <c:pt idx="4">
                  <c:v>3000</c:v>
                </c:pt>
                <c:pt idx="5">
                  <c:v>2100</c:v>
                </c:pt>
                <c:pt idx="6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Krabi</c:v>
                </c:pt>
              </c:strCache>
            </c:strRef>
          </c:tx>
          <c:spPr>
            <a:solidFill>
              <a:srgbClr val="677A1F"/>
            </a:solidFill>
            <a:ln w="38100" cap="flat">
              <a:solidFill>
                <a:srgbClr val="67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77A1F"/>
              </a:solidFill>
              <a:ln w="9525" cap="flat">
                <a:solidFill>
                  <a:srgbClr val="67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  <c:pt idx="4">
                  <c:v>16</c:v>
                </c:pt>
                <c:pt idx="5">
                  <c:v>18</c:v>
                </c:pt>
                <c:pt idx="6">
                  <c:v>20</c:v>
                </c:pt>
                <c:pt idx="7">
                  <c:v>18</c:v>
                </c:pt>
                <c:pt idx="8">
                  <c:v>15</c:v>
                </c:pt>
                <c:pt idx="9">
                  <c:v>14</c:v>
                </c:pt>
                <c:pt idx="10">
                  <c:v>12</c:v>
                </c:pt>
                <c:pt idx="11">
                  <c:v>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Chongqing</c:v>
                </c:pt>
              </c:strCache>
            </c:strRef>
          </c:tx>
          <c:spPr>
            <a:solidFill>
              <a:srgbClr val="08172A"/>
            </a:solidFill>
            <a:ln w="38100" cap="flat">
              <a:solidFill>
                <a:srgbClr val="081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172A"/>
              </a:solidFill>
              <a:ln w="9525" cap="flat">
                <a:solidFill>
                  <a:srgbClr val="081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13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Mongolia</c:v>
                </c:pt>
              </c:strCache>
            </c:strRef>
          </c:tx>
          <c:spPr>
            <a:solidFill>
              <a:srgbClr val="8B9B3A"/>
            </a:solidFill>
            <a:ln w="38100" cap="flat">
              <a:solidFill>
                <a:srgbClr val="8B9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9B3A"/>
              </a:solidFill>
              <a:ln w="9525" cap="flat">
                <a:solidFill>
                  <a:srgbClr val="8B9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8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131552"/>
            <a:ext cx="18288000" cy="109728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4" name="Text 2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0" y="1828800"/>
            <a:ext cx="4114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2860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Summer Asia</a:t>
            </a:r>
            <a:endParaRPr lang="en-US" sz="7400" dirty="0"/>
          </a:p>
        </p:txBody>
      </p:sp>
      <p:sp>
        <p:nvSpPr>
          <p:cNvPr id="7" name="Text 4"/>
          <p:cNvSpPr/>
          <p:nvPr/>
        </p:nvSpPr>
        <p:spPr>
          <a:xfrm>
            <a:off x="1371600" y="3474720"/>
            <a:ext cx="1463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Strategy</a:t>
            </a:r>
            <a:endParaRPr lang="en-US" sz="12000" dirty="0"/>
          </a:p>
        </p:txBody>
      </p:sp>
      <p:sp>
        <p:nvSpPr>
          <p:cNvPr id="8" name="Text 5"/>
          <p:cNvSpPr/>
          <p:nvPr/>
        </p:nvSpPr>
        <p:spPr>
          <a:xfrm>
            <a:off x="1371600" y="5943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2026  |  Krabi  |  Chongqing  |  Mongolia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046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Krabi, Thailand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046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Chongqing, China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804672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21440" y="8046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Mongolia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3533120" y="8229600"/>
            <a:ext cx="3657600" cy="640080"/>
          </a:xfrm>
          <a:prstGeom prst="rect">
            <a:avLst/>
          </a:prstGeom>
          <a:solidFill>
            <a:srgbClr val="677A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 THE STRATEGY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Overview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Goals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GoTravel is expanding beyond Southeast Asia with three unexpected summer destinations — Krabi, Chongqing, and Mongolia. This Q3 campaign targets millennial travelers (25-40) seeking authentic, off-the-beaten-path adventures during the summer travel window (July-September 2026).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Campaign Overview</a:t>
            </a:r>
            <a:endParaRPr lang="en-US" sz="1635" dirty="0"/>
          </a:p>
        </p:txBody>
      </p:sp>
      <p:sp>
        <p:nvSpPr>
          <p:cNvPr id="6" name="Shape 4"/>
          <p:cNvSpPr/>
          <p:nvPr/>
        </p:nvSpPr>
        <p:spPr>
          <a:xfrm>
            <a:off x="9326880" y="1371600"/>
            <a:ext cx="0" cy="7772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GOALS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2011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350 Total Bookings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78992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three destinations in 12 weeks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29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3.2x ROAS Target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078992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on ad spend across paid channels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8463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0" y="4800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8,000 New Leads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078992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subscribers from campaign landing pages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62636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0" y="6217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2M+ Impressions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0789920" y="6629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Combined social and paid reach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768096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789920" y="7635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 Repeat Travelers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0789920" y="8046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Re-engage past GoTravel adventurers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Spotlight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distinct adventures designed for millennial travelers who crave authentic experiences beyond the ordinary.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Destinations</a:t>
            </a:r>
            <a:endParaRPr lang="en-US" sz="1635" dirty="0"/>
          </a:p>
        </p:txBody>
      </p:sp>
      <p:sp>
        <p:nvSpPr>
          <p:cNvPr id="6" name="Shape 4"/>
          <p:cNvSpPr/>
          <p:nvPr/>
        </p:nvSpPr>
        <p:spPr>
          <a:xfrm>
            <a:off x="1097280" y="502920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EF9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5303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KRABI, THAILAND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463040" y="5943600"/>
            <a:ext cx="438912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6126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Island Explorer — 7 Days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6446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$1,399/person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463040" y="70408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Limestone cliffs, emerald waters, and jungle trails. Krabi offers the perfect blend of adventure and relaxation — island hopping, rock climbing, and kayaking through mangrove forests.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8686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for: Beach lovers, active travelers, couples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502920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EF9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3035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CHONGQING, CHINA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7132320" y="5943600"/>
            <a:ext cx="438912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0" y="6126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 Adventure — 8 Days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132320" y="6446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$1,599/person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7132320" y="70408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sprawling mega-city where ancient meets ultramodern. Explore the Yangtze River, discover hotpot culture at its source, and trek through the Wulong karst landscapes from Transformers fame.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132320" y="8686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for: Foodies, culture seekers, urban explorers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2435840" y="502920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EF9F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53035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44168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MONGOLIA</a:t>
            </a:r>
            <a:endParaRPr lang="en-US" sz="2100" dirty="0"/>
          </a:p>
        </p:txBody>
      </p:sp>
      <p:sp>
        <p:nvSpPr>
          <p:cNvPr id="25" name="Shape 20"/>
          <p:cNvSpPr/>
          <p:nvPr/>
        </p:nvSpPr>
        <p:spPr>
          <a:xfrm>
            <a:off x="12801600" y="5943600"/>
            <a:ext cx="438912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2801600" y="6126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Nomad Experience — 10 Days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2801600" y="6446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$2,199/person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12801600" y="70408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Sleep in traditional gers under endless skies, ride horses across the steppe with nomadic families, and experience the Naadam festival. Mongolia is raw, vast, and unforgettable.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2801600" y="8686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for: Adventure seekers, nature lovers, photographers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Audience</a:t>
            </a:r>
            <a:endParaRPr lang="en-US" sz="1635" dirty="0"/>
          </a:p>
        </p:txBody>
      </p:sp>
      <p:sp>
        <p:nvSpPr>
          <p:cNvPr id="5" name="Shape 3"/>
          <p:cNvSpPr/>
          <p:nvPr/>
        </p:nvSpPr>
        <p:spPr>
          <a:xfrm>
            <a:off x="9326880" y="1371600"/>
            <a:ext cx="0" cy="7772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474720"/>
            <a:ext cx="109728" cy="1188720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3474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ADVENTURE MILLENNIALS (25-32)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3886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First-time Asia travelers looking for Instagram-worthy, active experiences. Respond to Reels, TikTok, and influencer content. Price-conscious but willing to pay for unique experiences.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5120640"/>
            <a:ext cx="109728" cy="1188720"/>
          </a:xfrm>
          <a:prstGeom prst="rect">
            <a:avLst/>
          </a:prstGeom>
          <a:solidFill>
            <a:srgbClr val="08172A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5120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 SEEKERS (30-40)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8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5532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Seasoned travelers who've done the popular routes and want something new. High intent, longer research phase. Respond well to long-form content, email, and blog SEO.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6766560"/>
            <a:ext cx="109728" cy="1188720"/>
          </a:xfrm>
          <a:prstGeom prst="rect">
            <a:avLst/>
          </a:prstGeom>
          <a:solidFill>
            <a:srgbClr val="8B9B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6766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 GOTRAVELERS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6766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B9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7178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 GoTravel adventurers ready for the next journey. Already trust the brand — activate with email, early access, and loyalty perks. Highest conversion rate at 8.2%.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8412480"/>
            <a:ext cx="109728" cy="1188720"/>
          </a:xfrm>
          <a:prstGeom prst="rect">
            <a:avLst/>
          </a:prstGeom>
          <a:solidFill>
            <a:srgbClr val="B4C45A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8412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&amp; COUPLE TRAVELERS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8412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4C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8823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Traveling with a partner or friend group. Interested in private trip options. Higher average order value. Respond to referral incentives and social proof.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 SEGMENT SPLIT</a:t>
            </a:r>
            <a:endParaRPr lang="en-US" sz="2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10515600" y="2011680"/>
          <a:ext cx="6400800" cy="594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Channel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multi-channel approach targeting millennials where they research and book travel — social-first discovery, SEO for high-intent capture, email for nurturing, and paid ads for conversion.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</a:t>
            </a:r>
            <a:endParaRPr lang="en-US" sz="1635" dirty="0"/>
          </a:p>
        </p:txBody>
      </p:sp>
      <p:sp>
        <p:nvSpPr>
          <p:cNvPr id="6" name="Shape 4"/>
          <p:cNvSpPr/>
          <p:nvPr/>
        </p:nvSpPr>
        <p:spPr>
          <a:xfrm>
            <a:off x="9326880" y="1371600"/>
            <a:ext cx="0" cy="777240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 &amp; TIKTOK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 &amp; Awareness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0" y="1463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Reels-first strategy: destination teasers, traveler POVs, behind-the-scenes. Target: 1.5M impressions, 50K profile visits.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YOUTUBE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Consideration &amp; Trust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0" y="2926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Long-form destination guides and trip vlogs. SEO-optimized titles. Target: 12 videos, 100K views total.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0690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MARKETING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Nurture &amp; Convert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0" y="4389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Destination-specific drip sequences, early bird offers, countdown timers. Target: 30% open rate, 5% click-to-book.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55321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508760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High-Intent Capture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515600" y="5852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campaigns for 'Krabi tours,' 'Mongolia travel,' 'Chongqing adventure.' Target: $25 CPA, 3.8% conversion.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699516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0" y="6949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 ADS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5087600" y="6949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Prospecting &amp; Retargeting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515600" y="7315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Lookalike audiences from past bookers, retargeting site visitors. Carousel + video creative. Target: $30 CPA, 3.2x ROAS.</a:t>
            </a:r>
            <a:endParaRPr lang="en-US" sz="13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845820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515600" y="8412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SEO &amp; BLOG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5087600" y="8412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Organic Long-Term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0515600" y="8778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Destination guides, itinerary posts, 'best time to visit' content. Target: 15K organic visits from campaign keywords.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Allocation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1635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EF9F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CAMPAIGN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$42,000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1097280" y="5669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5669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5669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6035040"/>
            <a:ext cx="740664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Ads (IG + FB)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6172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$14,000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6172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6611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Ads (Search)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6611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$8,400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6611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7050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Production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7050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$7,500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7050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7488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Influencer Partnerships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7488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$5,000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7488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7927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Marketing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0" y="7927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$3,000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7927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8366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TikTok Ads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12080" y="8366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$2,100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0" y="8366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8805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SEO &amp; Blog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12080" y="8805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$2,000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8805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7552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CHANNEL BUDGET BREAKDOWN</a:t>
            </a:r>
            <a:endParaRPr lang="en-US" sz="2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9601200" y="1828800"/>
          <a:ext cx="7772400" cy="685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12-Week Rollout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Timeline</a:t>
            </a:r>
            <a:endParaRPr lang="en-US" sz="1635" dirty="0"/>
          </a:p>
        </p:txBody>
      </p:sp>
      <p:sp>
        <p:nvSpPr>
          <p:cNvPr id="5" name="Shape 3"/>
          <p:cNvSpPr/>
          <p:nvPr/>
        </p:nvSpPr>
        <p:spPr>
          <a:xfrm>
            <a:off x="1097280" y="3657600"/>
            <a:ext cx="5120640" cy="109728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251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Pre-Launch &amp; Hype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A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1-3  (Jul 1-21)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5212080"/>
            <a:ext cx="512064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3949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teaser Reels + TikToks for each destination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3 SEO blog posts (one per destination guide)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email hype sequence — 'Something new is coming'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Meta + Google ad campaigns (don't launch yet)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 influencer contracts (2 creators per destination)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3657600"/>
            <a:ext cx="5120640" cy="109728"/>
          </a:xfrm>
          <a:prstGeom prst="rect">
            <a:avLst/>
          </a:prstGeom>
          <a:solidFill>
            <a:srgbClr val="08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4251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Launch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A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4-8  (Jul 22 - Aug 25)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5212080"/>
            <a:ext cx="5120640" cy="0"/>
          </a:xfrm>
          <a:prstGeom prst="line">
            <a:avLst/>
          </a:prstGeom>
          <a:noFill/>
          <a:ln w="9525">
            <a:solidFill>
              <a:srgbClr val="08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53949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Activate all paid channels — Meta, Google, TikTok ads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Influencer content goes live (trip vlogs, photo series)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launch blast to full list + destination-specific sequences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YouTube destination guides (1 per week)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early bird pricing — 15% off for first 50 bookings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435840" y="3657600"/>
            <a:ext cx="5120640" cy="109728"/>
          </a:xfrm>
          <a:prstGeom prst="rect">
            <a:avLst/>
          </a:prstGeom>
          <a:solidFill>
            <a:srgbClr val="8B9B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43584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435840" y="4251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 &amp; Close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3584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A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9-12  (Aug 26 - Sep 21)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435840" y="5212080"/>
            <a:ext cx="5120640" cy="0"/>
          </a:xfrm>
          <a:prstGeom prst="line">
            <a:avLst/>
          </a:prstGeom>
          <a:noFill/>
          <a:ln w="9525">
            <a:solidFill>
              <a:srgbClr val="8B9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0" y="53949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budget to highest-performing channels (weekly ROAS review)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Retargeting push — abandoned checkout + site visitors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Urgency messaging: 'Last spots available' on top destinations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Referral push — past travelers get $100 credit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Post-campaign analysis and Q4 planning kickoff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Bookings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12 Weeks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Projections</a:t>
            </a:r>
            <a:endParaRPr lang="en-US" sz="1635" dirty="0"/>
          </a:p>
        </p:txBody>
      </p:sp>
      <p:sp>
        <p:nvSpPr>
          <p:cNvPr id="5" name="Text 3"/>
          <p:cNvSpPr/>
          <p:nvPr/>
        </p:nvSpPr>
        <p:spPr>
          <a:xfrm>
            <a:off x="100584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Bookings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8016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Bookings/Week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$525K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544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Projected Revenue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14400" y="3200400"/>
          <a:ext cx="16459200" cy="594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Metrics</a:t>
            </a:r>
            <a:endParaRPr lang="en-US" sz="5700" dirty="0"/>
          </a:p>
          <a:p>
            <a:pPr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KPIs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tracking across all channels with bi-weekly optimization reviews. Campaign dashboard in Google Analytics 4 + custom Notion tracker.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9235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5" b="1" dirty="0">
                <a:solidFill>
                  <a:srgbClr val="677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Measurement</a:t>
            </a:r>
            <a:endParaRPr lang="en-US" sz="1635" dirty="0"/>
          </a:p>
        </p:txBody>
      </p:sp>
      <p:sp>
        <p:nvSpPr>
          <p:cNvPr id="6" name="Shape 4"/>
          <p:cNvSpPr/>
          <p:nvPr/>
        </p:nvSpPr>
        <p:spPr>
          <a:xfrm>
            <a:off x="9326880" y="1371600"/>
            <a:ext cx="0" cy="777240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DASHBOARD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0" y="2194560"/>
            <a:ext cx="7772400" cy="0"/>
          </a:xfrm>
          <a:prstGeom prst="line">
            <a:avLst/>
          </a:prstGeom>
          <a:noFill/>
          <a:ln w="9525">
            <a:solidFill>
              <a:srgbClr val="677A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0" y="2331720"/>
            <a:ext cx="8046720" cy="777240"/>
          </a:xfrm>
          <a:prstGeom prst="rect">
            <a:avLst/>
          </a:prstGeom>
          <a:solidFill>
            <a:srgbClr val="FEF9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Acquisition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$45 (Q2 avg)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on Ad Spend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3.2x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2.1x (Q2 avg)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75520" y="4069080"/>
            <a:ext cx="8046720" cy="777240"/>
          </a:xfrm>
          <a:prstGeom prst="rect">
            <a:avLst/>
          </a:prstGeom>
          <a:solidFill>
            <a:srgbClr val="FEF9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Open Rate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Landing Page Conversion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0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75520" y="5806440"/>
            <a:ext cx="8046720" cy="777240"/>
          </a:xfrm>
          <a:prstGeom prst="rect">
            <a:avLst/>
          </a:prstGeom>
          <a:solidFill>
            <a:srgbClr val="FEF9F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Engagement 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0" y="5852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5%+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0" y="5852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0" y="6720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Video View-Through Rate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0" y="6720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0" y="6720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channel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75520" y="7543800"/>
            <a:ext cx="8046720" cy="777240"/>
          </a:xfrm>
          <a:prstGeom prst="rect">
            <a:avLst/>
          </a:prstGeom>
          <a:solidFill>
            <a:srgbClr val="FEF9F1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0" y="7589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Email Subscribers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0" y="7589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8,000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544800" y="7589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0" y="8458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Traveler Bookings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716000" y="8458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 (25%)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544800" y="8458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 historically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131552"/>
            <a:ext cx="18288000" cy="109728"/>
          </a:xfrm>
          <a:prstGeom prst="rect">
            <a:avLst/>
          </a:prstGeom>
          <a:solidFill>
            <a:srgbClr val="677A1F"/>
          </a:solidFill>
          <a:ln/>
        </p:spPr>
      </p:sp>
      <p:sp>
        <p:nvSpPr>
          <p:cNvPr id="4" name="Text 2"/>
          <p:cNvSpPr/>
          <p:nvPr/>
        </p:nvSpPr>
        <p:spPr>
          <a:xfrm>
            <a:off x="7360920" y="411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GoTravel Adventures</a:t>
            </a:r>
            <a:endParaRPr lang="en-US" sz="1635" dirty="0"/>
          </a:p>
        </p:txBody>
      </p:sp>
      <p:sp>
        <p:nvSpPr>
          <p:cNvPr id="5" name="Text 3"/>
          <p:cNvSpPr/>
          <p:nvPr/>
        </p:nvSpPr>
        <p:spPr>
          <a:xfrm>
            <a:off x="2743200" y="2560320"/>
            <a:ext cx="1280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Summer Asia</a:t>
            </a:r>
            <a:endParaRPr lang="en-US" sz="7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645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Make It Happen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2743200" y="640080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77A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2026  |  $42K Budget  |  350 Booking Target  |  12-Week Sprint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086600" y="77724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677A1F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7772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 &amp; LAUNCH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9611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32120" y="8961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Krabi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8961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58200" y="8961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Chongqing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8961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84280" y="8961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Mongolia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Summer Asia Campaign Strategy</dc:title>
  <dc:subject>PptxGenJS Presentation</dc:subject>
  <dc:creator>GoTravel Adventures</dc:creator>
  <cp:lastModifiedBy>GoTravel Adventures</cp:lastModifiedBy>
  <cp:revision>1</cp:revision>
  <dcterms:created xsi:type="dcterms:W3CDTF">2026-03-31T03:51:13Z</dcterms:created>
  <dcterms:modified xsi:type="dcterms:W3CDTF">2026-03-31T03:51:13Z</dcterms:modified>
</cp:coreProperties>
</file>